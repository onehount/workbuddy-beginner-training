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302" r:id="rId12"/>
    <p:sldId id="266" r:id="rId13"/>
    <p:sldId id="26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WorkBuddy 零基础办公任务实战教程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认识 WorkBuddy：功能 · 用法 · 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· 先搞懂每个功能是什么、干什么、怎么用、在哪里</a:t>
            </a:r>
            <a:br/>
            <a:r>
              <a:t>· 用统一案例演示各功能的真实使用流程</a:t>
            </a:r>
            <a:br/>
            <a:r>
              <a:t>· 再学进阶技巧：先给方案再执行、出错怎么办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WorkBuddy 零基础办公任务实战教程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1/46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本课程的三条目标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学完能做什么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能说出 WorkBuddy 的核心功能分别解决哪类办公问题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能在界面上找到对应入口，并跑通一个完整任务流程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掌握两个进阶习惯：先要方案再执行、出错了按流程纠正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课程目标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2/46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第一章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为什么学习 WorkBuddy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为什么学习 WorkBuddy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3/46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本质、效率与未来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核心信息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本质：WorkBuddy 不是替你思考，而是把目标、材料、约束变成可执行任务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效率：减少澄清、整理、排版、转换中的机械劳动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未来：能定义目标、组织材料、检查结果，并与 AI 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第一章 为什么学习 WorkBuddy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4/46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新员工的困境，正是功能要解决的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说不清需求 → 用「一句话下达任务 + 先提问」功能澄清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材料散乱 → 用「添加上下文 / 选择工作空间」功能集中输入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反复排版 → 用「文档 / 表格 / PPT 生成」功能一次产出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不敢交付 → 用「结果区验收 + 四查」功能把控质量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第一章 为什么学习 WorkBuddy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5/46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学会 WorkBuddy，你得到什么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926080" cy="36576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1672" cy="841248"/>
          </a:xfrm>
          <a:prstGeom prst="roundRect">
            <a:avLst/>
          </a:prstGeom>
          <a:solidFill>
            <a:srgbClr val="244A82"/>
          </a:solidFill>
          <a:ln w="19050">
            <a:solidFill>
              <a:srgbClr val="95A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>
            <p:custDataLst>
              <p:tags r:id="rId1"/>
            </p:custDataLst>
          </p:nvPr>
        </p:nvSpPr>
        <p:spPr>
          <a:xfrm>
            <a:off x="777240" y="1773936"/>
            <a:ext cx="548640" cy="548640"/>
          </a:xfrm>
          <a:prstGeom prst="ellipse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600200" y="181051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不需要再 整理会议纪要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773936"/>
            <a:ext cx="2331720" cy="548640"/>
          </a:xfrm>
          <a:prstGeom prst="roundRect">
            <a:avLst/>
          </a:prstGeom>
          <a:solidFill>
            <a:srgbClr val="95A5A6"/>
          </a:solidFill>
          <a:ln w="12700">
            <a:solidFill>
              <a:srgbClr val="95A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not bad</a:t>
            </a:r>
          </a:p>
          <a:p>
            <a:pPr algn="ctr">
              <a:defRPr sz="11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还行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78608"/>
            <a:ext cx="11091672" cy="841248"/>
          </a:xfrm>
          <a:prstGeom prst="roundRect">
            <a:avLst/>
          </a:prstGeom>
          <a:solidFill>
            <a:srgbClr val="244A82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>
            <p:custDataLst>
              <p:tags r:id="rId3"/>
            </p:custDataLst>
          </p:nvPr>
        </p:nvSpPr>
        <p:spPr>
          <a:xfrm>
            <a:off x="777240" y="2724912"/>
            <a:ext cx="548640" cy="548640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1600200" y="276148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不需要再 人工做通知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724912"/>
            <a:ext cx="2331720" cy="548640"/>
          </a:xfrm>
          <a:prstGeom prst="roundRect">
            <a:avLst/>
          </a:prstGeom>
          <a:solidFill>
            <a:srgbClr val="2E6BE6"/>
          </a:solidFill>
          <a:ln w="1270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OK</a:t>
            </a:r>
          </a:p>
          <a:p>
            <a:pPr algn="ctr">
              <a:defRPr sz="11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不错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9584"/>
            <a:ext cx="11091672" cy="841248"/>
          </a:xfrm>
          <a:prstGeom prst="roundRect">
            <a:avLst/>
          </a:prstGeom>
          <a:solidFill>
            <a:srgbClr val="244A82"/>
          </a:solidFill>
          <a:ln w="19050">
            <a:solidFill>
              <a:srgbClr val="17C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>
            <p:custDataLst>
              <p:tags r:id="rId5"/>
            </p:custDataLst>
          </p:nvPr>
        </p:nvSpPr>
        <p:spPr>
          <a:xfrm>
            <a:off x="777240" y="3675888"/>
            <a:ext cx="548640" cy="548640"/>
          </a:xfrm>
          <a:prstGeom prst="ellipse">
            <a:avLst/>
          </a:prstGeom>
          <a:solidFill>
            <a:srgbClr val="17C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1600200" y="371246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不需要再 自己做琐碎的工作总结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3675888"/>
            <a:ext cx="2331720" cy="548640"/>
          </a:xfrm>
          <a:prstGeom prst="roundRect">
            <a:avLst/>
          </a:prstGeom>
          <a:solidFill>
            <a:srgbClr val="17C0C7"/>
          </a:solidFill>
          <a:ln w="12700">
            <a:solidFill>
              <a:srgbClr val="17C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good</a:t>
            </a:r>
          </a:p>
          <a:p>
            <a:pPr algn="ctr">
              <a:defRPr sz="11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挺好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11091672" cy="841248"/>
          </a:xfrm>
          <a:prstGeom prst="roundRect">
            <a:avLst/>
          </a:prstGeom>
          <a:solidFill>
            <a:srgbClr val="244A82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>
            <p:custDataLst>
              <p:tags r:id="rId7"/>
            </p:custDataLst>
          </p:nvPr>
        </p:nvSpPr>
        <p:spPr>
          <a:xfrm>
            <a:off x="777240" y="4626864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>
            <p:custDataLst>
              <p:tags r:id="rId8"/>
            </p:custDataLst>
          </p:nvPr>
        </p:nvSpPr>
        <p:spPr>
          <a:xfrm>
            <a:off x="1600200" y="4663440"/>
            <a:ext cx="7315200" cy="383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不需要再 费时</a:t>
            </a:r>
            <a:r>
              <a:rPr lang="zh-CN"/>
              <a:t>做</a:t>
            </a:r>
            <a:r>
              <a:t>分析报告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4626864"/>
            <a:ext cx="2331720" cy="54864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excellent</a:t>
            </a:r>
          </a:p>
          <a:p>
            <a:pPr algn="ctr">
              <a:defRPr sz="11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很棒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31536"/>
            <a:ext cx="11091672" cy="841248"/>
          </a:xfrm>
          <a:prstGeom prst="roundRect">
            <a:avLst/>
          </a:prstGeom>
          <a:solidFill>
            <a:srgbClr val="244A82"/>
          </a:solidFill>
          <a:ln w="19050">
            <a:solidFill>
              <a:srgbClr val="F1C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>
            <p:custDataLst>
              <p:tags r:id="rId9"/>
            </p:custDataLst>
          </p:nvPr>
        </p:nvSpPr>
        <p:spPr>
          <a:xfrm>
            <a:off x="777240" y="5577840"/>
            <a:ext cx="548640" cy="548640"/>
          </a:xfrm>
          <a:prstGeom prst="ellipse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>
            <p:custDataLst>
              <p:tags r:id="rId10"/>
            </p:custDataLst>
          </p:nvPr>
        </p:nvSpPr>
        <p:spPr>
          <a:xfrm>
            <a:off x="1600200" y="5614416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不需要再 一点一点花时间做 PPT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5577840"/>
            <a:ext cx="2331720" cy="548640"/>
          </a:xfrm>
          <a:prstGeom prst="roundRect">
            <a:avLst/>
          </a:prstGeom>
          <a:solidFill>
            <a:srgbClr val="F1C40F"/>
          </a:solidFill>
          <a:ln w="12700">
            <a:solidFill>
              <a:srgbClr val="F1C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wonderful</a:t>
            </a:r>
          </a:p>
          <a:p>
            <a:pPr algn="ctr">
              <a:defRPr sz="11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太赞了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第一章 为什么学习 WorkBuddy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6/46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第二章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认识 WorkBuddy 界面与起步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认识 WorkBuddy 界面与起步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7/46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WorkBuddy 是什么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腾讯出品的全场景 AI 办公工作台：说一句话，它规划并执行任务、交付成果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能读你的本地文件、写文件、跨步骤推进，不只是问答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与传统 AI 对话的区别：能实际操作文件、有任务连续性、交付可验收结果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第二章 认识界面与起步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8/46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34745"/>
            <a:ext cx="10596245" cy="5403215"/>
          </a:xfrm>
          <a:prstGeom prst="rect">
            <a:avLst/>
          </a:prstGeom>
          <a:ln w="28575" cmpd="sng">
            <a:solidFill>
              <a:srgbClr val="FF0000"/>
            </a:solidFill>
            <a:prstDash val="solid"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界面三区总览（东西在哪里）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rPr lang="zh-CN" sz="1600"/>
              <a:t>实际</a:t>
            </a:r>
            <a:r>
              <a:rPr sz="1600"/>
              <a:t>界面</a:t>
            </a:r>
            <a:endParaRPr sz="1600"/>
          </a:p>
        </p:txBody>
      </p:sp>
      <p:sp>
        <p:nvSpPr>
          <p:cNvPr id="4" name="Rounded Rectangle 3"/>
          <p:cNvSpPr/>
          <p:nvPr/>
        </p:nvSpPr>
        <p:spPr>
          <a:xfrm>
            <a:off x="502920" y="1071245"/>
            <a:ext cx="1814195" cy="5055235"/>
          </a:xfrm>
          <a:prstGeom prst="roundRect">
            <a:avLst/>
          </a:prstGeom>
          <a:noFill/>
          <a:ln w="28575">
            <a:solidFill>
              <a:srgbClr val="1B3A6B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B3A6B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94915" y="1075055"/>
            <a:ext cx="6054725" cy="5372100"/>
          </a:xfrm>
          <a:prstGeom prst="roundRect">
            <a:avLst/>
          </a:prstGeom>
          <a:noFill/>
          <a:ln w="28575">
            <a:solidFill>
              <a:srgbClr val="2E6BE6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F1FD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285" y="5377180"/>
            <a:ext cx="5596890" cy="868680"/>
          </a:xfrm>
          <a:prstGeom prst="roundRect">
            <a:avLst/>
          </a:prstGeom>
          <a:noFill/>
          <a:ln w="19050">
            <a:solidFill>
              <a:srgbClr val="2E6BE6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32520" y="1132205"/>
            <a:ext cx="2537460" cy="4994275"/>
          </a:xfrm>
          <a:prstGeom prst="roundRect">
            <a:avLst/>
          </a:prstGeom>
          <a:noFill/>
          <a:ln w="28575">
            <a:solidFill>
              <a:srgbClr val="27AE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8F8EE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65379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第二章 认识界面与起步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9/46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界面三区总览（东西在哪里）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rPr lang="zh-CN" sz="1600"/>
              <a:t>抽象</a:t>
            </a:r>
            <a:r>
              <a:rPr sz="1600"/>
              <a:t>界面</a:t>
            </a:r>
            <a:endParaRPr sz="1600"/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468880" cy="4754880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侧边栏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• 任务列表（按文件夹）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• 搜索任务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• 选择工作空间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• 当前账号头像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371600"/>
            <a:ext cx="5394960" cy="47548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0128" y="14813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6B"/>
                </a:solidFill>
                <a:latin typeface="微软雅黑" panose="020B0503020204020204" charset="-122"/>
              </a:defRPr>
            </a:pPr>
            <a:r>
              <a:t>对话区（核心交互）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192024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任务标题栏</a:t>
            </a:r>
          </a:p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消息列表（执行过程）</a:t>
            </a:r>
          </a:p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输入框：一句话下达任务</a:t>
            </a:r>
          </a:p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@ 引用 / 粘贴截图 / 上传 / 补充</a:t>
            </a:r>
          </a:p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切换工作模式 Craft/Plan/Ask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5029200"/>
            <a:ext cx="50749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513892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「把这份会议记录整理成纪要，先给结构」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371600"/>
            <a:ext cx="2971800" cy="4754880"/>
          </a:xfrm>
          <a:prstGeom prst="roundRect">
            <a:avLst/>
          </a:prstGeom>
          <a:solidFill>
            <a:srgbClr val="E8F8EE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7968" y="1481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结果区（右侧）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192024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产物：预览生成文件</a:t>
            </a:r>
          </a:p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全部文件：产物清单</a:t>
            </a:r>
          </a:p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变更：批量改了什么</a:t>
            </a:r>
          </a:p>
          <a:p>
            <a:pPr>
              <a:spcAft>
                <a:spcPts val="800"/>
              </a:spcAft>
              <a:defRPr sz="14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预览：面板内查看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6BE6"/>
                </a:solidFill>
                <a:latin typeface="微软雅黑" panose="020B0503020204020204" charset="-122"/>
              </a:defRPr>
            </a:pPr>
            <a:r>
              <a:t>在哪里：左侧栏管任务，中间对话区下达与追问，右侧结果区验收产物。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第二章 认识界面与起步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9/46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第二步：选择工作模式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起步②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Craft（你说我做）：直接动手产出结果，最快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Plan（先想后做）：先给方案与步骤，你确认后再执行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Ask（只看不说）：只回答、只读，不改动任何文件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在哪里：对话区顶部或新建任务时的模式切换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第二章 认识界面与起步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11/46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第一步：确认积分充足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起步①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设计、生成图片 / 视频等多模态功能会消耗积分（信用点）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开始重任务前，先在账号 / 设置中确认积分余额充足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积分不足时系统会提示，避免生成到一半中断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第二章 认识界面与起步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10/46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第三步：一句话下达任务 + 选工作空间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起步③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在对话区底部输入框，用自然语言写需求，如「把这份会议记录整理成纪要」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点输入框左下角「选择工作空间」，指定本次任务读取 / 生成文件的目录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不选则用默认目录；指定后 WorkBuddy 只在该目录内读写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回车即创建任务，新任务出现在左侧任务列表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第二章 认识界面与起步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12/46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第四步：添加上下文的 4 种方式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起步④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@ 引用：在输入中 @ 文件 / 文档 / 规则，精准指向材料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粘贴截图：Ctrl/Cmd+V 直接粘贴剪贴板图片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上传文件：点上传按钮或拖拽文件到输入框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补充说明：在描述里写明目标、输入、输出格式、约束、时限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第二章 认识界面与起步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13/46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第三章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核心功能逐个看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核心功能逐个看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14/46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WorkBuddy 功能地图（10 大功能）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① 文档生成  ② 表格与数据分析  ③ PPT 生成  ④ 设计 / 多模态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⑤ 深度研究与联网  ⑥ 批量文件处理  ⑦ 代码 / 工具执行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⑧ 连接器 / MCP（GitHub、邮箱…）  ⑨ 自动化（定时任务）  ⑩ 专家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下面逐一看定义、用法、入口，并用青屿茶研案例演示关键流程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15/46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文档生成（纪要 / 报告 / 通知）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功能 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 panose="020B0503020204020204" charset="-122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把零散材料整理成结构化的 Word 文档。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上传原始材料 + 模板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写明结构要求与约束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先要大纲，确认后生成 .docx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会议纪要、工作总结、活动通知、调研报告、README 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对话区直接下达任务；结果区「产物」下载 .docx。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🎯 案例演示：会议原始记录 → 标准会议纪要（见后页流程）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16/46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文档生成 · Demo 使用流程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流程 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2931" y="2377440"/>
            <a:ext cx="1783080" cy="2377440"/>
          </a:xfrm>
          <a:prstGeom prst="roundRect">
            <a:avLst/>
          </a:prstGeom>
          <a:solidFill>
            <a:srgbClr val="1B3A6B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083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创建任务</a:t>
            </a:r>
            <a:br/>
            <a:r>
              <a:t>选工作空间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72587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28619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1771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上传会议</a:t>
            </a:r>
            <a:br/>
            <a:r>
              <a:t>记录+模板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8275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4307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7459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下达指令</a:t>
            </a:r>
            <a:br/>
            <a:r>
              <a:t>(只据材料)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23963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79995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3147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先出结构</a:t>
            </a:r>
            <a:br/>
            <a:r>
              <a:t>+待确认项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99651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55683" y="2377440"/>
            <a:ext cx="1783080" cy="237744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8835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核对人名/</a:t>
            </a:r>
            <a:br/>
            <a:r>
              <a:t>数字→导出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6BE6"/>
                </a:solidFill>
                <a:latin typeface="微软雅黑" panose="020B0503020204020204" charset="-122"/>
              </a:defRPr>
            </a:pPr>
            <a:r>
              <a:t>每步对应界面操作：新建任务 → 上传/输入 → 写约束 → 确认大纲 → 结果区导出。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17/46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表格与数据分析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功能 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 panose="020B0503020204020204" charset="-122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读取 Excel / CSV，做汇总、公式、对比与可视化。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上传数据表（含公式更佳）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说明统计口径与指标定义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要求图表 + 关键结论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渠道曝光汇总、转化率计算、趋势图、异常预警。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对话区下达任务；结果区看产物，或让它写回 .xlsx。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🎯 案例演示：渠道数据 → 整体转化率（加权 37.0%）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18/46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数据分析 · Demo 使用流程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流程 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2931" y="2377440"/>
            <a:ext cx="1783080" cy="2377440"/>
          </a:xfrm>
          <a:prstGeom prst="roundRect">
            <a:avLst/>
          </a:prstGeom>
          <a:solidFill>
            <a:srgbClr val="1B3A6B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083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上传渠道</a:t>
            </a:r>
            <a:br/>
            <a:r>
              <a:t>数据表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72587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28619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1771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明确口径</a:t>
            </a:r>
            <a:br/>
            <a:r>
              <a:t>(有效÷线索)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8275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4307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7459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生成各渠道</a:t>
            </a:r>
            <a:br/>
            <a:r>
              <a:t>汇总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23963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79995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3147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计算整体</a:t>
            </a:r>
            <a:br/>
            <a:r>
              <a:t>(加权)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99651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55683" y="2377440"/>
            <a:ext cx="1783080" cy="237744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8835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出图+结论</a:t>
            </a:r>
            <a:br/>
            <a:r>
              <a:t>(非平均)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6BE6"/>
                </a:solidFill>
                <a:latin typeface="微软雅黑" panose="020B0503020204020204" charset="-122"/>
              </a:defRPr>
            </a:pPr>
            <a:r>
              <a:t>每步对应界面操作：新建任务 → 上传/输入 → 写约束 → 确认大纲 → 结果区导出。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19/46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PPT 生成（报告 / 复盘）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功能 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 panose="020B0503020204020204" charset="-122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从需求或已有文档，生成结构化的演示文稿。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提供输入材料与目标页数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先要逐页大纲并确认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再生成 .pptx，逐页可改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月度复盘、项目汇报、培训课件、产品介绍。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对话区下达任务；结果区「产物」打开 / 下载 .pptx。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🎯 案例演示：纪要+总结+通知+分析 → 12 页复盘 PPT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20/46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PPT 生成 · Demo 使用流程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流程 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2931" y="2377440"/>
            <a:ext cx="1783080" cy="2377440"/>
          </a:xfrm>
          <a:prstGeom prst="roundRect">
            <a:avLst/>
          </a:prstGeom>
          <a:solidFill>
            <a:srgbClr val="1B3A6B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083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汇总已完成的</a:t>
            </a:r>
            <a:br/>
            <a:r>
              <a:t>4份文档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72587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28619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1771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下达「生成</a:t>
            </a:r>
            <a:br/>
            <a:r>
              <a:t>复盘PPT」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8275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4307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7459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先出逐页</a:t>
            </a:r>
            <a:br/>
            <a:r>
              <a:t>大纲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23963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79995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3147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确认/修改</a:t>
            </a:r>
            <a:br/>
            <a:r>
              <a:t>大纲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99651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55683" y="2377440"/>
            <a:ext cx="1783080" cy="237744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8835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生成12页</a:t>
            </a:r>
            <a:br/>
            <a:r>
              <a:t>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6BE6"/>
                </a:solidFill>
                <a:latin typeface="微软雅黑" panose="020B0503020204020204" charset="-122"/>
              </a:defRPr>
            </a:pPr>
            <a:r>
              <a:t>每步对应界面操作：新建任务 → 上传/输入 → 写约束 → 确认大纲 → 结果区导出。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21/46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设计 / 多模态（图 / 海报 / Logo）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功能 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 panose="020B0503020204020204" charset="-122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用文字描述生成图片、海报、Logo、配图等视觉素材。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用文字描述画面 / 风格 / 尺寸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确认积分充足（消耗信用点）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生成后选优或局部修改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活动海报、社交媒体配图、品牌标识、PPT 插图。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对话区下达「生成图片」类任务；结果区看成品。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🎯 案例演示：校园联名活动 → 一张预热海报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22/46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设计功能 · Demo 使用流程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流程 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2931" y="2377440"/>
            <a:ext cx="1783080" cy="2377440"/>
          </a:xfrm>
          <a:prstGeom prst="roundRect">
            <a:avLst/>
          </a:prstGeom>
          <a:solidFill>
            <a:srgbClr val="1B3A6B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083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确认积分</a:t>
            </a:r>
            <a:br/>
            <a:r>
              <a:t>充足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72587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28619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1771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下达「生成</a:t>
            </a:r>
            <a:br/>
            <a:r>
              <a:t>活动海报」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8275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4307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7459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描述主题/</a:t>
            </a:r>
            <a:br/>
            <a:r>
              <a:t>风格/尺寸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23963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79995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3147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生成候选</a:t>
            </a:r>
            <a:br/>
            <a:r>
              <a:t>多张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99651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55683" y="2377440"/>
            <a:ext cx="1783080" cy="237744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8835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选定/微调</a:t>
            </a:r>
            <a:br/>
            <a:r>
              <a:t>导出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6BE6"/>
                </a:solidFill>
                <a:latin typeface="微软雅黑" panose="020B0503020204020204" charset="-122"/>
              </a:defRPr>
            </a:pPr>
            <a:r>
              <a:t>每步对应界面操作：新建任务 → 上传/输入 → 写约束 → 确认大纲 → 结果区导出。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23/46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深度研究与联网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功能 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 panose="020B0503020204020204" charset="-122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联网检索 + 多轮调研，输出带出处的报告。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提出研究问题与目标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让它分步检索并标注来源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要求结论 + 引用 + 不确定项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行业趋势、竞品分析、资料查证、方案对比。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对话区下达「调研…」任务；开启联网能力。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🎯 可扩展：调研「新茶饮 7 月营销趋势」辅助决策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24/46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批量文件处理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功能 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 panose="020B0503020204020204" charset="-122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对一类文件批量整理、重命名、格式转换。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选择工作空间（目标目录）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说明规则：按 X 分类 / 命名为 Y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让它批量执行并汇报变更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按日期分类图片、批量改名、docx↔pdf 转换。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对话区下达任务；结果区「变更」查看改了哪些。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🎯 可扩展：把活动素材按渠道文件夹自动归类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25/46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代码 / 工具执行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功能 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 panose="020B0503020204020204" charset="-122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在受控环境运行脚本、处理数据、生成文件。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说明要生成的产物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让它写脚本并执行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在结果区查看运行产物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用 Python 批量生成表格 / 图表、跑数据处理。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对话区下达任务；WorkBuddy 在沙箱中执行。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🎯 本教程所有图表即由脚本生成（tools/gen_charts.py）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26/46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连接器 / MCP（连接外部系统）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功能 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 panose="020B0503020204020204" charset="-122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接入 GitHub、邮箱、腾讯文档等，让 WB 直接操作它们。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在连接器中心开启并授权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下达任务时指明目标系统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按提示完成授权确认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推送代码到 GitHub、读邮件、写在线文档。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左侧 / 设置中的「连接器」；授权后对话区直接调用。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🎯 案例演示：把成品仓库推送到 GitHub（见后页流程）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27/46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连接器 · Demo 使用流程（发布到 GitHub）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流程 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2931" y="2377440"/>
            <a:ext cx="1783080" cy="2377440"/>
          </a:xfrm>
          <a:prstGeom prst="roundRect">
            <a:avLst/>
          </a:prstGeom>
          <a:solidFill>
            <a:srgbClr val="1B3A6B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083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开启 GitHub</a:t>
            </a:r>
            <a:br/>
            <a:r>
              <a:t>连接器授权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72587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28619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1771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准备本地</a:t>
            </a:r>
            <a:br/>
            <a:r>
              <a:t>仓库文件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8275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4307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7459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下达「推送</a:t>
            </a:r>
            <a:br/>
            <a:r>
              <a:t>到 GitHub」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23963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79995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3147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确认仓库/</a:t>
            </a:r>
            <a:br/>
            <a:r>
              <a:t>分支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99651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55683" y="2377440"/>
            <a:ext cx="1783080" cy="237744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8835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推送成功</a:t>
            </a:r>
            <a:br/>
            <a:r>
              <a:t>获链接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6BE6"/>
                </a:solidFill>
                <a:latin typeface="微软雅黑" panose="020B0503020204020204" charset="-122"/>
              </a:defRPr>
            </a:pPr>
            <a:r>
              <a:t>每步对应界面操作：新建任务 → 上传/输入 → 写约束 → 确认大纲 → 结果区导出。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28/46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自动化（定时 / 周期任务）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功能 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 panose="020B0503020204020204" charset="-122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把重复任务设成定时或周期性自动运行。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描述任务与触发时间（如每周一 9 点）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WorkBuddy 登记自动化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到期自动执行并通知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每周数据汇总、每日舆情简报、定时提醒。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自动化入口（任务管理 / 设置）；按周期自动跑。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🎯 可扩展：每周一自动汇总上周渠道数据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29/46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专家（领域智能体）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功能 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6BE6"/>
                </a:solidFill>
                <a:latin typeface="微软雅黑" panose="020B0503020204020204" charset="-122"/>
              </a:defRPr>
            </a:pPr>
            <a:r>
              <a:t>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74920" cy="1828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调用预先配置好的领域专家，处理专业问题。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7492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从专家中心选择对应专家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像对话一样把问题交给它</a:t>
            </a:r>
          </a:p>
          <a:p>
            <a:pPr>
              <a:spcAft>
                <a:spcPts val="800"/>
              </a:spcAft>
              <a:defRPr sz="150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• 结合 WB 通用能力协同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干什么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1828800"/>
            <a:ext cx="5074920" cy="18288"/>
          </a:xfrm>
          <a:prstGeom prst="rect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财务分析、法律咨询、设计评审、行业研究。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440680" cy="224028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在哪里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4206240"/>
            <a:ext cx="507492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25112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专家中心 / 专家入口；选定后进入专家对话。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1672" cy="292608"/>
          </a:xfrm>
          <a:prstGeom prst="round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🎯 可扩展：用「财务专家」复核转化率口径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30/46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结果区：查看与验收产物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产物：直接预览生成的文档 / 表格 / PPT / 图片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全部文件：本次任务产生的所有文件清单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变更：批量处理时显示改了哪些文件，先核对再保留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预览：在右侧面板内查看，无需下载即可判断好坏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31/46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侧边栏：多任务并行与管理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任务列表按文件夹分组，支持搜索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可同时发起多个任务并行推进（如一边生成 PPT 一边做分析）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点开任一任务可继续追问、补充材料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底部显示当前账号头像与状态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第三章 核心功能逐个看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32/46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第四章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进阶技巧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进阶技巧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33/46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先给方案，再执行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技巧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目标不清就直接生成，结果必然跑偏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用 Plan 模式或提示词「先给方案 / 先出大纲」，确认后再动手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方案应包含：任务顺序、每步输入与输出、确认节点、交付物、风险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好处：把你的隐性要求显性化，减少返工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第四章 进阶技巧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34/46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对比：直接生成 vs 先给方案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技巧 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2999232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❌ 直接生成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• 「写一份 7 月复盘 PPT」</a:t>
            </a:r>
          </a:p>
          <a:p>
            <a:pPr>
              <a:spcAft>
                <a:spcPts val="800"/>
              </a:spcAft>
              <a:defRPr sz="160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• WB 凭猜测定结构、选数据</a:t>
            </a:r>
          </a:p>
          <a:p>
            <a:pPr>
              <a:spcAft>
                <a:spcPts val="800"/>
              </a:spcAft>
              <a:defRPr sz="160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• 拿到后发现重点不对、数据口径错</a:t>
            </a:r>
          </a:p>
          <a:p>
            <a:pPr>
              <a:spcAft>
                <a:spcPts val="800"/>
              </a:spcAft>
              <a:defRPr sz="160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• 返工成本高，且不知改哪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2999232"/>
          </a:xfrm>
          <a:prstGeom prst="roundRect">
            <a:avLst/>
          </a:prstGeom>
          <a:solidFill>
            <a:srgbClr val="E8F8EE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444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✅ 先给方案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502920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• 「先给 12 页逐页大纲，确认后再生成」</a:t>
            </a:r>
          </a:p>
          <a:p>
            <a:pPr>
              <a:spcAft>
                <a:spcPts val="800"/>
              </a:spcAft>
              <a:defRPr sz="1600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• 你在校验点把关结构与口径</a:t>
            </a:r>
          </a:p>
          <a:p>
            <a:pPr>
              <a:spcAft>
                <a:spcPts val="800"/>
              </a:spcAft>
              <a:defRPr sz="1600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• 终稿贴合需求，仅需局部微调</a:t>
            </a:r>
          </a:p>
          <a:p>
            <a:pPr>
              <a:spcAft>
                <a:spcPts val="800"/>
              </a:spcAft>
              <a:defRPr sz="1600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• 一次到位，沟通成本最低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第四章 进阶技巧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35/46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出错后怎么办：五步纠正工作流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技巧 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2931" y="2377440"/>
            <a:ext cx="1783080" cy="2377440"/>
          </a:xfrm>
          <a:prstGeom prst="roundRect">
            <a:avLst/>
          </a:prstGeom>
          <a:solidFill>
            <a:srgbClr val="1B3A6B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083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WB 原始</a:t>
            </a:r>
            <a:br/>
            <a:r>
              <a:t>输出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72587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28619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1771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四查自检</a:t>
            </a:r>
            <a:br/>
            <a:r>
              <a:t>(数字/日期/</a:t>
            </a:r>
            <a:br/>
            <a:r>
              <a:t>人名/结论)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8275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4307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7459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定位错误</a:t>
            </a:r>
            <a:br/>
            <a:r>
              <a:t>(行号/出处)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23963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79995" y="2377440"/>
            <a:ext cx="1783080" cy="237744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3147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22A35"/>
                </a:solidFill>
                <a:latin typeface="微软雅黑" panose="020B0503020204020204" charset="-122"/>
              </a:defRPr>
            </a:pPr>
            <a:r>
              <a:t>纠正话术</a:t>
            </a:r>
            <a:br/>
            <a:r>
              <a:t>(精确指出)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99651" y="3401568"/>
            <a:ext cx="219456" cy="329184"/>
          </a:xfrm>
          <a:prstGeom prst="rightArrow">
            <a:avLst/>
          </a:prstGeom>
          <a:solidFill>
            <a:srgbClr val="17C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55683" y="2377440"/>
            <a:ext cx="1783080" cy="237744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8835" y="2514600"/>
            <a:ext cx="163677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人工终稿</a:t>
            </a:r>
            <a:br/>
            <a:r>
              <a:t>(通读导出)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6BE6"/>
                </a:solidFill>
                <a:latin typeface="微软雅黑" panose="020B0503020204020204" charset="-122"/>
              </a:defRPr>
            </a:pPr>
            <a:r>
              <a:t>每步对应界面操作：新建任务 → 上传/输入 → 写约束 → 确认大纲 → 结果区导出。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第四章 进阶技巧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36/46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纠错示例：「待确认」被写成「决定」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技巧 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2999232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❌ 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• 原文「快闪预算追加金额待定」</a:t>
            </a:r>
          </a:p>
          <a:p>
            <a:pPr>
              <a:spcAft>
                <a:spcPts val="800"/>
              </a:spcAft>
              <a:defRPr sz="160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• 纪要却写成「决定追加预算 XX 元」</a:t>
            </a:r>
          </a:p>
          <a:p>
            <a:pPr>
              <a:spcAft>
                <a:spcPts val="800"/>
              </a:spcAft>
              <a:defRPr sz="160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• AI 把模糊补成了确定结论</a:t>
            </a:r>
          </a:p>
          <a:p>
            <a:pPr>
              <a:spcAft>
                <a:spcPts val="800"/>
              </a:spcAft>
              <a:defRPr sz="160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• 后果：未经授权的承诺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2999232"/>
          </a:xfrm>
          <a:prstGeom prst="roundRect">
            <a:avLst/>
          </a:prstGeom>
          <a:solidFill>
            <a:srgbClr val="E8F8EE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444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✅ 正确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502920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• 归入「待确认事项」并引用原话</a:t>
            </a:r>
          </a:p>
          <a:p>
            <a:pPr>
              <a:spcAft>
                <a:spcPts val="800"/>
              </a:spcAft>
              <a:defRPr sz="1600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• 备注：缺具体金额，需后续确认</a:t>
            </a:r>
          </a:p>
          <a:p>
            <a:pPr>
              <a:spcAft>
                <a:spcPts val="800"/>
              </a:spcAft>
              <a:defRPr sz="1600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• 原则：源材料未明确的标待确认</a:t>
            </a:r>
          </a:p>
          <a:p>
            <a:pPr>
              <a:spcAft>
                <a:spcPts val="800"/>
              </a:spcAft>
              <a:defRPr sz="1600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• 后果：责任清晰、可追查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第四章 进阶技巧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37/46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写好提示词的四要素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技巧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目标：要生成什么（纪要 / 报告 / PPT）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输入：分析哪些数据、参考哪些文档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输出：格式（Word/Excel/PPT）、页数、风格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约束：只据材料、不虚构、口径、时限、禁用项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第四章 进阶技巧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38/46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数据一致性自检（四查清单）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技巧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① 数字：每个值能在源表找到，合计 = 各项相加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② 日期：年月对、截止是未来、逻辑不自相矛盾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③ 人名：与参会表一致，负责人没搞反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④ 结论：有出处，「建议」≠「决定」，「待确认」≠ 确定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第四章 进阶技巧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39/46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第五章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Demo 结果顺带展示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Demo 结果顺带展示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40/46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青屿茶研案例 · 五类产出（一览）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会议纪要：6 段结构（信息/讨论/决定/行动/待确认/下次）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工作总结：区分完成 / 参与 / 协助，延期项单列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活动通知：只含已确认事项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分析报告：事实 / 判断 / 建议分明，整体转化率 37.0%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复盘 PPT：12 页，每页一个结论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第五章 Demo 结果顺带展示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41/46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一条命令复现全部 Demo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所有 Office 文件由 tools/ 下 Python 脚本生成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数据来自单一源 case_data.py，含 verify() 自检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图表由 gen_charts.py 用 Pillow 绘制（含纠错标注）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仓库已发布到 GitHub，克隆即可复现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第五章 Demo 结果顺带展示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42/46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第六章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检查、复现与寄语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检查、复现与寄语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43/46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三个核心动作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先提问，再生成方案（功能：先提问 / Plan 模式）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上传材料，明确限制（功能：添加上下文 / 工作空间）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人工检查，再交付（功能：结果区验收 / 四查）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第六章 检查、复现与寄语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44/46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GitHub 与二次开发</a:t>
            </a:r>
          </a:p>
          <a:p>
            <a:pPr>
              <a:defRPr sz="130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仓库：github.com/onehount/workbuddy-beginner-training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README 给出三条复现路径（按角色选）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下载 inputs，按 06-prompts 自行跑各功能</a:t>
            </a:r>
          </a:p>
          <a:p>
            <a:pPr>
              <a:spcAft>
                <a:spcPts val="800"/>
              </a:spcAft>
              <a:defRPr sz="2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二次开发请遵守虚构声明与双许可证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第六章 检查、复现与寄语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45/46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7C0C7"/>
                </a:solidFill>
                <a:latin typeface="微软雅黑" panose="020B0503020204020204" charset="-122"/>
              </a:defRPr>
            </a:pPr>
            <a:r>
              <a:t>寄语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写给刚起步的你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AF1FD"/>
                </a:solidFill>
                <a:latin typeface="微软雅黑" panose="020B0503020204020204" charset="-122"/>
              </a:defRPr>
            </a:pPr>
            <a:r>
              <a:t>· </a:t>
            </a:r>
            <a:r>
              <a:rPr lang="zh-CN"/>
              <a:t>开始使用</a:t>
            </a:r>
            <a:r>
              <a:rPr lang="en-US" altLang="zh-CN"/>
              <a:t>AI</a:t>
            </a:r>
            <a:r>
              <a:t>，不必一次写出完美指令</a:t>
            </a:r>
            <a:br/>
            <a:r>
              <a:t>· 理解工作本质，知道目标与判断标准</a:t>
            </a:r>
            <a:br/>
            <a:r>
              <a:t>· 保持好奇，持续学习，与 AI 协同成长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寄语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46/46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2.71999999999997,&quot;left&quot;:61.2,&quot;top&quot;:139.68,&quot;width&quot;:640.8}"/>
</p:tagLst>
</file>

<file path=ppt/tags/tag2.xml><?xml version="1.0" encoding="utf-8"?>
<p:tagLst xmlns:p="http://schemas.openxmlformats.org/presentationml/2006/main">
  <p:tag name="KSO_WM_DIAGRAM_VIRTUALLY_FRAME" val="{&quot;height&quot;:342.71999999999997,&quot;left&quot;:61.2,&quot;top&quot;:139.68,&quot;width&quot;:640.8}"/>
</p:tagLst>
</file>

<file path=ppt/tags/tag3.xml><?xml version="1.0" encoding="utf-8"?>
<p:tagLst xmlns:p="http://schemas.openxmlformats.org/presentationml/2006/main">
  <p:tag name="KSO_WM_DIAGRAM_VIRTUALLY_FRAME" val="{&quot;height&quot;:342.71999999999997,&quot;left&quot;:61.2,&quot;top&quot;:139.68,&quot;width&quot;:640.8}"/>
</p:tagLst>
</file>

<file path=ppt/tags/tag4.xml><?xml version="1.0" encoding="utf-8"?>
<p:tagLst xmlns:p="http://schemas.openxmlformats.org/presentationml/2006/main">
  <p:tag name="KSO_WM_DIAGRAM_VIRTUALLY_FRAME" val="{&quot;height&quot;:342.71999999999997,&quot;left&quot;:61.2,&quot;top&quot;:139.68,&quot;width&quot;:640.8}"/>
</p:tagLst>
</file>

<file path=ppt/tags/tag5.xml><?xml version="1.0" encoding="utf-8"?>
<p:tagLst xmlns:p="http://schemas.openxmlformats.org/presentationml/2006/main">
  <p:tag name="KSO_WM_DIAGRAM_VIRTUALLY_FRAME" val="{&quot;height&quot;:342.71999999999997,&quot;left&quot;:61.2,&quot;top&quot;:139.68,&quot;width&quot;:640.8}"/>
</p:tagLst>
</file>

<file path=ppt/tags/tag6.xml><?xml version="1.0" encoding="utf-8"?>
<p:tagLst xmlns:p="http://schemas.openxmlformats.org/presentationml/2006/main">
  <p:tag name="KSO_WM_DIAGRAM_VIRTUALLY_FRAME" val="{&quot;height&quot;:342.71999999999997,&quot;left&quot;:61.2,&quot;top&quot;:139.68,&quot;width&quot;:640.8}"/>
</p:tagLst>
</file>

<file path=ppt/tags/tag7.xml><?xml version="1.0" encoding="utf-8"?>
<p:tagLst xmlns:p="http://schemas.openxmlformats.org/presentationml/2006/main">
  <p:tag name="KSO_WM_DIAGRAM_VIRTUALLY_FRAME" val="{&quot;height&quot;:342.71999999999997,&quot;left&quot;:61.2,&quot;top&quot;:139.68,&quot;width&quot;:640.8}"/>
</p:tagLst>
</file>

<file path=ppt/tags/tag8.xml><?xml version="1.0" encoding="utf-8"?>
<p:tagLst xmlns:p="http://schemas.openxmlformats.org/presentationml/2006/main">
  <p:tag name="KSO_WM_DIAGRAM_VIRTUALLY_FRAME" val="{&quot;height&quot;:342.71999999999997,&quot;left&quot;:61.2,&quot;top&quot;:139.68,&quot;width&quot;:640.8}"/>
</p:tagLst>
</file>

<file path=ppt/tags/tag9.xml><?xml version="1.0" encoding="utf-8"?>
<p:tagLst xmlns:p="http://schemas.openxmlformats.org/presentationml/2006/main">
  <p:tag name="KSO_WM_DIAGRAM_VIRTUALLY_FRAME" val="{&quot;height&quot;:342.71999999999997,&quot;left&quot;:61.2,&quot;top&quot;:139.68,&quot;width&quot;:640.8}"/>
</p:tagLst>
</file>

<file path=ppt/tags/tag10.xml><?xml version="1.0" encoding="utf-8"?>
<p:tagLst xmlns:p="http://schemas.openxmlformats.org/presentationml/2006/main">
  <p:tag name="KSO_WM_DIAGRAM_VIRTUALLY_FRAME" val="{&quot;height&quot;:342.71999999999997,&quot;left&quot;:61.2,&quot;top&quot;:139.68,&quot;width&quot;:640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6262</Words>
  <Application>WPS 演示</Application>
  <PresentationFormat>On-screen Show (4:3)</PresentationFormat>
  <Paragraphs>787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任泽北</cp:lastModifiedBy>
  <cp:revision>6</cp:revision>
  <dcterms:created xsi:type="dcterms:W3CDTF">2013-01-27T09:14:00Z</dcterms:created>
  <dcterms:modified xsi:type="dcterms:W3CDTF">2026-08-06T01:55:43Z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531FC9904EED4ED49AEE5BF9C6D95A12_13</vt:lpwstr>
  </property>
</Properties>
</file>